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9" r:id="rId4"/>
    <p:sldId id="260" r:id="rId5"/>
    <p:sldId id="276" r:id="rId6"/>
    <p:sldId id="261" r:id="rId7"/>
    <p:sldId id="262" r:id="rId8"/>
    <p:sldId id="263" r:id="rId9"/>
    <p:sldId id="264" r:id="rId10"/>
    <p:sldId id="275" r:id="rId11"/>
    <p:sldId id="272" r:id="rId12"/>
    <p:sldId id="273" r:id="rId13"/>
    <p:sldId id="274" r:id="rId14"/>
    <p:sldId id="265" r:id="rId15"/>
    <p:sldId id="266" r:id="rId16"/>
    <p:sldId id="267" r:id="rId17"/>
    <p:sldId id="268" r:id="rId18"/>
    <p:sldId id="277" r:id="rId19"/>
    <p:sldId id="278" r:id="rId20"/>
    <p:sldId id="280" r:id="rId21"/>
    <p:sldId id="279" r:id="rId22"/>
    <p:sldId id="281" r:id="rId23"/>
    <p:sldId id="271" r:id="rId24"/>
  </p:sldIdLst>
  <p:sldSz cx="9144000" cy="5143500" type="screen16x9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Montserrat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43"/>
  </p:normalViewPr>
  <p:slideViewPr>
    <p:cSldViewPr snapToGrid="0">
      <p:cViewPr varScale="1">
        <p:scale>
          <a:sx n="140" d="100"/>
          <a:sy n="140" d="100"/>
        </p:scale>
        <p:origin x="7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fd6a1a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fd6a1ad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adf635cc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adf635cc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fd6a1ad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fd6a1ad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92C20A8-080B-A544-203D-2E412CBE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fd6a1ad4f_0_5:notes">
            <a:extLst>
              <a:ext uri="{FF2B5EF4-FFF2-40B4-BE49-F238E27FC236}">
                <a16:creationId xmlns:a16="http://schemas.microsoft.com/office/drawing/2014/main" id="{47FB1F9D-1DDD-AB4D-13AF-272111377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fd6a1ad4f_0_5:notes">
            <a:extLst>
              <a:ext uri="{FF2B5EF4-FFF2-40B4-BE49-F238E27FC236}">
                <a16:creationId xmlns:a16="http://schemas.microsoft.com/office/drawing/2014/main" id="{044B1B35-B2FB-7761-A01C-4677B0153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970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d948d0ee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d948d0ee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45a1bb278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245a1bb278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45a1bb27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45a1bb27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45a1bb278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45a1bb278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7D47EAF3-D896-D7CD-A6F5-197DA558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>
            <a:extLst>
              <a:ext uri="{FF2B5EF4-FFF2-40B4-BE49-F238E27FC236}">
                <a16:creationId xmlns:a16="http://schemas.microsoft.com/office/drawing/2014/main" id="{B3008226-6C88-33C1-4684-B0DACA846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>
            <a:extLst>
              <a:ext uri="{FF2B5EF4-FFF2-40B4-BE49-F238E27FC236}">
                <a16:creationId xmlns:a16="http://schemas.microsoft.com/office/drawing/2014/main" id="{F8D4F5FB-2C27-0A19-06E2-F181A2C61E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1640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3025615-A75C-C328-1FC5-6C303B92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>
            <a:extLst>
              <a:ext uri="{FF2B5EF4-FFF2-40B4-BE49-F238E27FC236}">
                <a16:creationId xmlns:a16="http://schemas.microsoft.com/office/drawing/2014/main" id="{68DF2CF5-77FB-01B4-6AC0-FE1C36451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>
            <a:extLst>
              <a:ext uri="{FF2B5EF4-FFF2-40B4-BE49-F238E27FC236}">
                <a16:creationId xmlns:a16="http://schemas.microsoft.com/office/drawing/2014/main" id="{F7E62B49-5961-ACCC-B6F1-66D985040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0010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E80E80D-1100-3AF3-990E-AFF66C6F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>
            <a:extLst>
              <a:ext uri="{FF2B5EF4-FFF2-40B4-BE49-F238E27FC236}">
                <a16:creationId xmlns:a16="http://schemas.microsoft.com/office/drawing/2014/main" id="{66CD13CB-F3B8-34A3-4105-7877FA06D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>
            <a:extLst>
              <a:ext uri="{FF2B5EF4-FFF2-40B4-BE49-F238E27FC236}">
                <a16:creationId xmlns:a16="http://schemas.microsoft.com/office/drawing/2014/main" id="{B80F51BA-867D-573E-751D-F48ED14B8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552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fd6a1ad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fd6a1ad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adf635cc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adf635ccc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fd6a1ad4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fd6a1ad4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75FB6D67-305E-A589-387B-F015B157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>
            <a:extLst>
              <a:ext uri="{FF2B5EF4-FFF2-40B4-BE49-F238E27FC236}">
                <a16:creationId xmlns:a16="http://schemas.microsoft.com/office/drawing/2014/main" id="{4A8BB777-5FF6-6C58-0BCE-B834CE05B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>
            <a:extLst>
              <a:ext uri="{FF2B5EF4-FFF2-40B4-BE49-F238E27FC236}">
                <a16:creationId xmlns:a16="http://schemas.microsoft.com/office/drawing/2014/main" id="{7F20D796-4015-B368-268F-40A8AFCFE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829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55233184-9F5D-68FE-58EA-BAA571815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>
            <a:extLst>
              <a:ext uri="{FF2B5EF4-FFF2-40B4-BE49-F238E27FC236}">
                <a16:creationId xmlns:a16="http://schemas.microsoft.com/office/drawing/2014/main" id="{4EFAEB4D-D031-CF93-6D2D-0676B36A2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>
            <a:extLst>
              <a:ext uri="{FF2B5EF4-FFF2-40B4-BE49-F238E27FC236}">
                <a16:creationId xmlns:a16="http://schemas.microsoft.com/office/drawing/2014/main" id="{B658A3BA-AFAB-77CB-05D7-4CC082AFB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0018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F7D0FD68-5549-A3B4-66CC-27C573DF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>
            <a:extLst>
              <a:ext uri="{FF2B5EF4-FFF2-40B4-BE49-F238E27FC236}">
                <a16:creationId xmlns:a16="http://schemas.microsoft.com/office/drawing/2014/main" id="{1AA34392-5251-88C3-FC20-285327BF1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>
            <a:extLst>
              <a:ext uri="{FF2B5EF4-FFF2-40B4-BE49-F238E27FC236}">
                <a16:creationId xmlns:a16="http://schemas.microsoft.com/office/drawing/2014/main" id="{4A071B81-4D65-A31F-A8B9-301B71C3C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468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8D1CF71-A9B9-8ED8-2C8D-33146A1B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>
            <a:extLst>
              <a:ext uri="{FF2B5EF4-FFF2-40B4-BE49-F238E27FC236}">
                <a16:creationId xmlns:a16="http://schemas.microsoft.com/office/drawing/2014/main" id="{961E181C-4157-2D20-D271-B7927E049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>
            <a:extLst>
              <a:ext uri="{FF2B5EF4-FFF2-40B4-BE49-F238E27FC236}">
                <a16:creationId xmlns:a16="http://schemas.microsoft.com/office/drawing/2014/main" id="{42A1F1DA-D018-F106-63F9-A3E38F9DD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5874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adf635ccc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fadf635ccc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oogle.com/spreadsheets/d/1BzBavj2LBxMbXLxH2wHpXXaTz0VJNv-H/edit?usp=share_link&amp;ouid=114326005369951511821&amp;rtpof=true&amp;sd=tru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AUDIT : </a:t>
            </a:r>
            <a:br>
              <a:rPr lang="fr"/>
            </a:br>
            <a:r>
              <a:rPr lang="fr"/>
              <a:t>Erreur sur le Cube OLAP 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6750" y="3514725"/>
            <a:ext cx="17335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mission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10035" y="1416476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en-FR"/>
              <a:t>🎯 </a:t>
            </a:r>
            <a:r>
              <a:rPr lang="en-GB" b="1"/>
              <a:t>Objectif</a:t>
            </a:r>
            <a:r>
              <a:rPr lang="en-GB"/>
              <a:t> : Identifier la source des écarts dans les données de chiffre d’affaires</a:t>
            </a:r>
          </a:p>
          <a:p>
            <a:endParaRPr lang="en-GB"/>
          </a:p>
          <a:p>
            <a:pPr marL="146050" indent="0">
              <a:buNone/>
            </a:pPr>
            <a:r>
              <a:rPr lang="en-FR"/>
              <a:t>🧩 </a:t>
            </a:r>
            <a:r>
              <a:rPr lang="en-GB" b="1"/>
              <a:t>Contexte</a:t>
            </a:r>
            <a:r>
              <a:rPr lang="en-GB"/>
              <a:t> :</a:t>
            </a:r>
          </a:p>
          <a:p>
            <a:pPr lvl="1">
              <a:lnSpc>
                <a:spcPct val="150000"/>
              </a:lnSpc>
            </a:pPr>
            <a:r>
              <a:rPr lang="en-GB"/>
              <a:t>Incohérences dans PowerBI</a:t>
            </a:r>
          </a:p>
          <a:p>
            <a:pPr lvl="1">
              <a:lnSpc>
                <a:spcPct val="150000"/>
              </a:lnSpc>
            </a:pPr>
            <a:r>
              <a:rPr lang="en-GB"/>
              <a:t>Absence de documentation sur la base OLAP</a:t>
            </a:r>
          </a:p>
          <a:p>
            <a:pPr marL="615950" lvl="1" indent="0">
              <a:buNone/>
            </a:pPr>
            <a:endParaRPr lang="en-GB"/>
          </a:p>
          <a:p>
            <a:pPr marL="146050" indent="0">
              <a:buNone/>
            </a:pPr>
            <a:r>
              <a:rPr lang="en-FR"/>
              <a:t>📦 </a:t>
            </a:r>
            <a:r>
              <a:rPr lang="en-GB" b="1"/>
              <a:t>Travail demandé</a:t>
            </a:r>
            <a:r>
              <a:rPr lang="en-GB"/>
              <a:t> :</a:t>
            </a:r>
          </a:p>
          <a:p>
            <a:pPr lvl="1">
              <a:lnSpc>
                <a:spcPct val="150000"/>
              </a:lnSpc>
            </a:pPr>
            <a:r>
              <a:rPr lang="en-GB"/>
              <a:t>Audit de la base OLAP</a:t>
            </a:r>
          </a:p>
          <a:p>
            <a:pPr lvl="1">
              <a:lnSpc>
                <a:spcPct val="150000"/>
              </a:lnSpc>
            </a:pPr>
            <a:r>
              <a:rPr lang="en-GB"/>
              <a:t>Analyse des logs SQL</a:t>
            </a:r>
          </a:p>
          <a:p>
            <a:pPr lvl="1">
              <a:lnSpc>
                <a:spcPct val="150000"/>
              </a:lnSpc>
            </a:pPr>
            <a:r>
              <a:rPr lang="en-GB"/>
              <a:t>Construction d’un prototype local</a:t>
            </a:r>
          </a:p>
          <a:p>
            <a:pPr lvl="1">
              <a:lnSpc>
                <a:spcPct val="150000"/>
              </a:lnSpc>
            </a:pPr>
            <a:r>
              <a:rPr lang="en-GB"/>
              <a:t>Formulation de recommandations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base de données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Architecture de l’entreprise</a:t>
            </a:r>
            <a:endParaRPr sz="1888"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/>
              <a:t>Architecture de type </a:t>
            </a:r>
            <a:r>
              <a:rPr lang="en-GB" b="1"/>
              <a:t>OLAP</a:t>
            </a:r>
            <a:r>
              <a:rPr lang="en-GB"/>
              <a:t> avec un modèle en étoile</a:t>
            </a:r>
          </a:p>
          <a:p>
            <a:endParaRPr lang="en-GB"/>
          </a:p>
          <a:p>
            <a:r>
              <a:rPr lang="en-GB"/>
              <a:t>Données chargées par des processus ETL</a:t>
            </a:r>
          </a:p>
          <a:p>
            <a:endParaRPr lang="en-GB"/>
          </a:p>
          <a:p>
            <a:r>
              <a:rPr lang="en-GB"/>
              <a:t>Restitution via </a:t>
            </a:r>
            <a:r>
              <a:rPr lang="en-GB" b="1"/>
              <a:t>PowerBI</a:t>
            </a:r>
          </a:p>
          <a:p>
            <a:endParaRPr lang="en-GB"/>
          </a:p>
          <a:p>
            <a:r>
              <a:rPr lang="en-GB"/>
              <a:t>Base composée de :</a:t>
            </a:r>
          </a:p>
          <a:p>
            <a:pPr lvl="1">
              <a:lnSpc>
                <a:spcPct val="150000"/>
              </a:lnSpc>
            </a:pPr>
            <a:r>
              <a:rPr lang="en-GB"/>
              <a:t>Fact_vente : table des transactions</a:t>
            </a:r>
          </a:p>
          <a:p>
            <a:pPr lvl="1">
              <a:lnSpc>
                <a:spcPct val="150000"/>
              </a:lnSpc>
            </a:pPr>
            <a:r>
              <a:rPr lang="en-GB"/>
              <a:t>Dimensions : Dim_client, Dim_produit, Dim_staff, Dim_date</a:t>
            </a:r>
          </a:p>
          <a:p>
            <a:pPr marL="615950" lvl="1" indent="0">
              <a:buNone/>
            </a:pPr>
            <a:endParaRPr lang="en-GB"/>
          </a:p>
          <a:p>
            <a:r>
              <a:rPr lang="en-GB"/>
              <a:t>Rôle de l’équipe Data Support : garantir la qualité et la fiabilité des données</a:t>
            </a:r>
          </a:p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base de données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Dictionnaire des données du fichier OLAP</a:t>
            </a:r>
            <a:endParaRPr sz="1888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7E0B76-1BC8-BA5D-F673-10C7C4C18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36" y="1307850"/>
            <a:ext cx="6105964" cy="3146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ABB732-E155-ABE0-CF28-6290B4D5CD71}"/>
              </a:ext>
            </a:extLst>
          </p:cNvPr>
          <p:cNvSpPr txBox="1"/>
          <p:nvPr/>
        </p:nvSpPr>
        <p:spPr>
          <a:xfrm>
            <a:off x="3116911" y="4659464"/>
            <a:ext cx="2154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hlinkClick r:id="rId4"/>
              </a:rPr>
              <a:t>Dictionnaire complet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FB623A8C-6540-F2E5-DA84-13A7E711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>
            <a:extLst>
              <a:ext uri="{FF2B5EF4-FFF2-40B4-BE49-F238E27FC236}">
                <a16:creationId xmlns:a16="http://schemas.microsoft.com/office/drawing/2014/main" id="{D8C09268-F1A9-6472-2462-F7DEF398F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base de données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schéma relationnel</a:t>
            </a:r>
            <a:endParaRPr sz="1888"/>
          </a:p>
        </p:txBody>
      </p:sp>
      <p:pic>
        <p:nvPicPr>
          <p:cNvPr id="3" name="Picture 2" descr="A diagram of a data flow&#10;&#10;AI-generated content may be incorrect.">
            <a:extLst>
              <a:ext uri="{FF2B5EF4-FFF2-40B4-BE49-F238E27FC236}">
                <a16:creationId xmlns:a16="http://schemas.microsoft.com/office/drawing/2014/main" id="{8C08A4D8-F641-5ED6-921B-DB8DA2476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38" y="1382400"/>
            <a:ext cx="5484962" cy="33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92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prototype de BDD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Explication de la base de données</a:t>
            </a:r>
            <a:endParaRPr sz="1888"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GB"/>
              <a:t>Création d'une </a:t>
            </a:r>
            <a:r>
              <a:rPr lang="en-GB" b="1"/>
              <a:t>base locale</a:t>
            </a:r>
            <a:r>
              <a:rPr lang="en-GB"/>
              <a:t> (SQLite / PostgreSQL) à partir des fichiers bruts (logs, OLAP).</a:t>
            </a:r>
          </a:p>
          <a:p>
            <a:pPr>
              <a:lnSpc>
                <a:spcPct val="150000"/>
              </a:lnSpc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Génération d’un </a:t>
            </a:r>
            <a:r>
              <a:rPr lang="en-GB" b="1"/>
              <a:t>dictionnaire de données</a:t>
            </a:r>
            <a:r>
              <a:rPr lang="en-GB"/>
              <a:t> et d’un </a:t>
            </a:r>
            <a:r>
              <a:rPr lang="en-GB" b="1"/>
              <a:t>schéma relationnel</a:t>
            </a:r>
            <a:r>
              <a:rPr lang="en-GB"/>
              <a:t>.</a:t>
            </a:r>
          </a:p>
          <a:p>
            <a:pPr>
              <a:lnSpc>
                <a:spcPct val="150000"/>
              </a:lnSpc>
            </a:pPr>
            <a:r>
              <a:rPr lang="en-GB"/>
              <a:t>Import des logs et exécution de requêtes SQL pour :</a:t>
            </a:r>
          </a:p>
          <a:p>
            <a:pPr lvl="1">
              <a:lnSpc>
                <a:spcPct val="150000"/>
              </a:lnSpc>
            </a:pPr>
            <a:r>
              <a:rPr lang="en-GB"/>
              <a:t>Identifier les volumes d’insertions par date</a:t>
            </a:r>
          </a:p>
          <a:p>
            <a:pPr lvl="1">
              <a:lnSpc>
                <a:spcPct val="150000"/>
              </a:lnSpc>
            </a:pPr>
            <a:r>
              <a:rPr lang="en-GB"/>
              <a:t>Repérer les actions sensibles (UPDATE, DELETE)</a:t>
            </a:r>
          </a:p>
          <a:p>
            <a:pPr marL="615950" lvl="1" indent="0">
              <a:lnSpc>
                <a:spcPct val="150000"/>
              </a:lnSpc>
              <a:buNone/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Comparaison des chiffres issus des logs avec ceux de PowerBI pour identifier les écarts.</a:t>
            </a:r>
          </a:p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Le chiffre d’affaires total pour le 14 Août</a:t>
            </a:r>
            <a:endParaRPr sz="1888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303B8C-5829-9EB6-5595-A1B54CDD3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0" y="1426198"/>
            <a:ext cx="7772400" cy="31939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Le chiffre d’affaires par client pour le top 10 des clients</a:t>
            </a:r>
            <a:endParaRPr sz="1888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923343-EB05-863F-6F85-BD2F1F4E7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916" y="1232458"/>
            <a:ext cx="6549000" cy="35972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850"/>
              <a:t>Le chiffre d’affaires encaissé par employé</a:t>
            </a:r>
            <a:endParaRPr sz="18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/>
          </a:p>
        </p:txBody>
      </p:sp>
      <p:pic>
        <p:nvPicPr>
          <p:cNvPr id="3" name="Picture 2" descr="A computer code with blue and purple text&#10;&#10;AI-generated content may be incorrect.">
            <a:extLst>
              <a:ext uri="{FF2B5EF4-FFF2-40B4-BE49-F238E27FC236}">
                <a16:creationId xmlns:a16="http://schemas.microsoft.com/office/drawing/2014/main" id="{AC4A7ED0-A59B-7779-9BD8-FA279DE4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67" y="1483118"/>
            <a:ext cx="4180972" cy="299563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A78627-A37A-632F-D79B-BF55D0FB5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750" y="1483118"/>
            <a:ext cx="3111683" cy="2995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914A-3E8A-0537-903A-CD09BCB42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/>
              <a:t>Analyse des logs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64D5A-D86B-2DF9-8637-B76A67D0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/>
              <a:t>Nombre des logs</a:t>
            </a:r>
          </a:p>
          <a:p>
            <a:pPr>
              <a:lnSpc>
                <a:spcPct val="150000"/>
              </a:lnSpc>
            </a:pPr>
            <a:r>
              <a:rPr lang="en-GB"/>
              <a:t>Nombre des logs par action</a:t>
            </a:r>
          </a:p>
          <a:p>
            <a:pPr>
              <a:lnSpc>
                <a:spcPct val="150000"/>
              </a:lnSpc>
            </a:pPr>
            <a:r>
              <a:rPr lang="en-GB"/>
              <a:t>Explications des logs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62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41688F55-3208-26F7-63DF-F885C5E4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>
            <a:extLst>
              <a:ext uri="{FF2B5EF4-FFF2-40B4-BE49-F238E27FC236}">
                <a16:creationId xmlns:a16="http://schemas.microsoft.com/office/drawing/2014/main" id="{75F727C1-18A8-FE52-8B6E-6FA7D92EE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Analyese des logs: </a:t>
            </a:r>
            <a:r>
              <a:rPr lang="en-US" sz="1600"/>
              <a:t>Numbre de logs</a:t>
            </a:r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6F3473-C8C2-005B-C83A-9903F905B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02" y="989798"/>
            <a:ext cx="5556386" cy="3299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75E754-0FB6-8257-033D-87F6D6558507}"/>
              </a:ext>
            </a:extLst>
          </p:cNvPr>
          <p:cNvSpPr txBox="1"/>
          <p:nvPr/>
        </p:nvSpPr>
        <p:spPr>
          <a:xfrm>
            <a:off x="1534602" y="4441973"/>
            <a:ext cx="55563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GB">
                <a:solidFill>
                  <a:schemeClr val="bg1"/>
                </a:solidFill>
              </a:rPr>
              <a:t>Nombre de logs  : Le fichier contient </a:t>
            </a:r>
            <a:r>
              <a:rPr lang="en-GB" b="1">
                <a:solidFill>
                  <a:schemeClr val="bg1"/>
                </a:solidFill>
              </a:rPr>
              <a:t>207,489</a:t>
            </a:r>
            <a:r>
              <a:rPr lang="en-GB">
                <a:solidFill>
                  <a:schemeClr val="bg1"/>
                </a:solidFill>
              </a:rPr>
              <a:t> actions au total.</a:t>
            </a:r>
          </a:p>
        </p:txBody>
      </p:sp>
    </p:spTree>
    <p:extLst>
      <p:ext uri="{BB962C8B-B14F-4D97-AF65-F5344CB8AC3E}">
        <p14:creationId xmlns:p14="http://schemas.microsoft.com/office/powerpoint/2010/main" val="3754212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C875B666-7E78-E61C-52C5-CB3CCB58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>
            <a:extLst>
              <a:ext uri="{FF2B5EF4-FFF2-40B4-BE49-F238E27FC236}">
                <a16:creationId xmlns:a16="http://schemas.microsoft.com/office/drawing/2014/main" id="{B0CCD2CD-5989-E3C5-EEFD-8E0E4350FB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2000"/>
              <a:t>Analyese des logs: </a:t>
            </a:r>
            <a:r>
              <a:rPr lang="fr" sz="1600"/>
              <a:t>Nombre de logs par action: 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B3B65-1547-FB2F-D1E1-78A8D735092E}"/>
              </a:ext>
            </a:extLst>
          </p:cNvPr>
          <p:cNvSpPr txBox="1"/>
          <p:nvPr/>
        </p:nvSpPr>
        <p:spPr>
          <a:xfrm>
            <a:off x="1248355" y="4189393"/>
            <a:ext cx="66472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chemeClr val="bg1"/>
                </a:solidFill>
              </a:rPr>
              <a:t>Remarque:</a:t>
            </a:r>
          </a:p>
          <a:p>
            <a:r>
              <a:rPr lang="en-GB">
                <a:solidFill>
                  <a:schemeClr val="bg1"/>
                </a:solidFill>
              </a:rPr>
              <a:t>- L’essentiel des actions sont des INSERTs (notamment dans la table Ventes), ce qui explique la hausse du chiffre d'affaires observée dans PowerBI</a:t>
            </a:r>
          </a:p>
          <a:p>
            <a:pPr marL="0" lvl="0" indent="0">
              <a:buNone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42B6A9-4D3D-EA03-2CE9-814EF3D97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530" y="943586"/>
            <a:ext cx="5152500" cy="309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6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160B0A8-A950-089A-73EC-211A3F7A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>
            <a:extLst>
              <a:ext uri="{FF2B5EF4-FFF2-40B4-BE49-F238E27FC236}">
                <a16:creationId xmlns:a16="http://schemas.microsoft.com/office/drawing/2014/main" id="{ABEB49DF-67B6-B3E0-6908-CC62C208D8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2000"/>
              <a:t>Analyese des logs: Insertion décalèe des ventes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50CE4-87BB-655E-2422-0F70FF3A01C8}"/>
              </a:ext>
            </a:extLst>
          </p:cNvPr>
          <p:cNvSpPr txBox="1"/>
          <p:nvPr/>
        </p:nvSpPr>
        <p:spPr>
          <a:xfrm>
            <a:off x="1689110" y="4189393"/>
            <a:ext cx="66472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chemeClr val="bg1"/>
                </a:solidFill>
              </a:rPr>
              <a:t> Remarques:</a:t>
            </a:r>
          </a:p>
          <a:p>
            <a:r>
              <a:rPr lang="en-GB">
                <a:solidFill>
                  <a:schemeClr val="bg1"/>
                </a:solidFill>
              </a:rPr>
              <a:t>- 199 990 ventes insérées le 14 août</a:t>
            </a:r>
          </a:p>
          <a:p>
            <a:r>
              <a:rPr lang="en-GB">
                <a:solidFill>
                  <a:schemeClr val="bg1"/>
                </a:solidFill>
              </a:rPr>
              <a:t>- 6 895 ventes supplémentaires insérées le 15 août</a:t>
            </a:r>
          </a:p>
          <a:p>
            <a:pPr marL="0" lvl="0" indent="0">
              <a:buNone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52D470C-FF65-E87F-BF91-D6394D36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481" y="1055886"/>
            <a:ext cx="6025322" cy="303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70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Resume: Analyse des logs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fr"/>
              <a:t>Nombre de logs  : </a:t>
            </a:r>
            <a:r>
              <a:rPr lang="en-GB"/>
              <a:t>Le fichier contient </a:t>
            </a:r>
            <a:r>
              <a:rPr lang="en-GB" b="1"/>
              <a:t>207,489</a:t>
            </a:r>
            <a:r>
              <a:rPr lang="en-GB"/>
              <a:t> actions au total.</a:t>
            </a:r>
            <a:endParaRPr/>
          </a:p>
          <a:p>
            <a:pPr marL="0" lvl="0" indent="0">
              <a:spcBef>
                <a:spcPts val="1200"/>
              </a:spcBef>
              <a:buNone/>
            </a:pPr>
            <a:r>
              <a:rPr lang="fr"/>
              <a:t>Nombre de logs par action: </a:t>
            </a:r>
            <a:r>
              <a:rPr lang="en-GB"/>
              <a:t>L’essentiel des actions sont des </a:t>
            </a:r>
            <a:r>
              <a:rPr lang="en-GB" b="1"/>
              <a:t>INSERTs</a:t>
            </a:r>
            <a:r>
              <a:rPr lang="en-GB"/>
              <a:t> (notamment dans la table Ventes), ce qui explique la hausse du chiffre d'affaires observée dans PowerBI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Explication des logs </a:t>
            </a:r>
            <a:r>
              <a:rPr lang="en-US"/>
              <a:t>:</a:t>
            </a:r>
          </a:p>
          <a:p>
            <a:pPr marL="285750" lvl="0" indent="-285750">
              <a:spcBef>
                <a:spcPts val="1200"/>
              </a:spcBef>
              <a:buFontTx/>
              <a:buChar char="-"/>
            </a:pPr>
            <a:r>
              <a:rPr lang="en-GB"/>
              <a:t>On remarque également des </a:t>
            </a:r>
            <a:r>
              <a:rPr lang="en-GB" b="1"/>
              <a:t>modifications (UPDATE) dans la table Produits</a:t>
            </a:r>
            <a:r>
              <a:rPr lang="en-GB"/>
              <a:t>, potentiellement sur les prix, ce qui pourrait affecter les totaux.</a:t>
            </a:r>
          </a:p>
          <a:p>
            <a:pPr marL="285750" lvl="0" indent="-285750">
              <a:spcBef>
                <a:spcPts val="1200"/>
              </a:spcBef>
              <a:buFontTx/>
              <a:buChar char="-"/>
            </a:pPr>
            <a:r>
              <a:rPr lang="en-GB"/>
              <a:t>Quelques suppressions (DELETE) ont eu lieu dans la table Employé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Compréhension des problèmes sur la base des logs</a:t>
            </a: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u="sng"/>
              <a:t>Problème observé </a:t>
            </a:r>
            <a:r>
              <a:rPr lang="en-GB" u="sng"/>
              <a:t>: </a:t>
            </a:r>
            <a:r>
              <a:rPr lang="en-GB"/>
              <a:t>Incohérence des chiffres d'affaires historiques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u="sng"/>
              <a:t>Raisons identifiées 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- Des ventes ont été ajoutées tardivement (ex. le 15 août pour le 14 août)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- Des UPDATE sur les prix produits peuvent modifier rétroactivement les totaux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u="sng"/>
              <a:t>Conséquence 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- Les chiffres visibles dans PowerBI évoluent dans le temps, ce qui fausse les analyses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u="sng"/>
              <a:t>Hypothèse 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- Intégration tardive des données ou absence de verrouillage des historiques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89528-30B4-8766-710B-C32DB8DE6448}"/>
              </a:ext>
            </a:extLst>
          </p:cNvPr>
          <p:cNvSpPr txBox="1"/>
          <p:nvPr/>
        </p:nvSpPr>
        <p:spPr>
          <a:xfrm>
            <a:off x="1190700" y="1509921"/>
            <a:ext cx="70389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1100" b="1">
                <a:solidFill>
                  <a:schemeClr val="bg1"/>
                </a:solidFill>
              </a:rPr>
              <a:t>🛠️ </a:t>
            </a:r>
            <a:r>
              <a:rPr lang="en-GB" sz="1100" b="1">
                <a:solidFill>
                  <a:schemeClr val="bg1"/>
                </a:solidFill>
              </a:rPr>
              <a:t>Actions à mettre en place</a:t>
            </a:r>
          </a:p>
          <a:p>
            <a:endParaRPr lang="en-GB" sz="1100" b="1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r>
              <a:rPr lang="en-GB" sz="1100">
                <a:solidFill>
                  <a:schemeClr val="bg1"/>
                </a:solidFill>
              </a:rPr>
              <a:t>Verrouiller les données historiques après un certain délai (ex: 24h) pour éviter des modifications tardives.</a:t>
            </a: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endParaRPr lang="en-GB" sz="110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r>
              <a:rPr lang="en-GB" sz="1100">
                <a:solidFill>
                  <a:schemeClr val="bg1"/>
                </a:solidFill>
              </a:rPr>
              <a:t>Mettre en place un contrôle d’intégrité dans l’ETL : alertes si des ventes sont insérées plus de X jours après la date du ticket.</a:t>
            </a: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endParaRPr lang="en-GB" sz="110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r>
              <a:rPr lang="en-GB" sz="1100">
                <a:solidFill>
                  <a:schemeClr val="bg1"/>
                </a:solidFill>
              </a:rPr>
              <a:t>Auditer les UPDATE sur les prix produits, car cela impacte le chiffre d'affaires.</a:t>
            </a: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endParaRPr lang="en-GB" sz="110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r>
              <a:rPr lang="en-GB" sz="1100">
                <a:solidFill>
                  <a:schemeClr val="bg1"/>
                </a:solidFill>
              </a:rPr>
              <a:t>Créer un log de corrections manuelles distinct, pour différencier les ventes normales des ajustements.</a:t>
            </a: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endParaRPr lang="en-GB" sz="110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r>
              <a:rPr lang="en-GB" sz="1100">
                <a:solidFill>
                  <a:schemeClr val="bg1"/>
                </a:solidFill>
              </a:rPr>
              <a:t>Renforcer la documentation de la base OLAP pour améliorer la compréhension.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br>
              <a:rPr lang="fr"/>
            </a:br>
            <a:r>
              <a:rPr lang="fr" sz="1850"/>
              <a:t>Avantages et inconvénients de la solution</a:t>
            </a:r>
            <a:endParaRPr sz="1850"/>
          </a:p>
        </p:txBody>
      </p:sp>
      <p:sp>
        <p:nvSpPr>
          <p:cNvPr id="206" name="Google Shape;206;p25"/>
          <p:cNvSpPr txBox="1">
            <a:spLocks noGrp="1"/>
          </p:cNvSpPr>
          <p:nvPr>
            <p:ph type="body" idx="1"/>
          </p:nvPr>
        </p:nvSpPr>
        <p:spPr>
          <a:xfrm>
            <a:off x="1170938" y="1438233"/>
            <a:ext cx="7257443" cy="33961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Avantages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FR" sz="1400"/>
              <a:t> </a:t>
            </a:r>
            <a:r>
              <a:rPr lang="en-GB" sz="1400" b="1"/>
              <a:t>Stabilité des données historiques</a:t>
            </a:r>
            <a:r>
              <a:rPr lang="en-GB" sz="1400"/>
              <a:t> : une fois les données verrouillées, les chiffres dans PowerBI ne fluctueront plus.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GB" sz="1400" b="1"/>
              <a:t> Confiance dans les reporting</a:t>
            </a:r>
            <a:r>
              <a:rPr lang="en-GB" sz="1400"/>
              <a:t> : les analyses deviennent plus fiables pour les équipes métiers.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GB" sz="1400" b="1"/>
              <a:t> Détection précoce des anomalies</a:t>
            </a:r>
            <a:r>
              <a:rPr lang="en-GB" sz="1400"/>
              <a:t> grâce à l’audit des logs (INSERT/UPDATE/DELETE).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GB" sz="1400" b="1"/>
              <a:t> Prototype simple et reproductible</a:t>
            </a:r>
            <a:r>
              <a:rPr lang="en-GB" sz="1400"/>
              <a:t> : facile à réutiliser pour d'autres analyses.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FR" sz="1400"/>
              <a:t> </a:t>
            </a:r>
            <a:r>
              <a:rPr lang="en-GB" sz="1400" b="1"/>
              <a:t>Meilleure documentation</a:t>
            </a:r>
            <a:r>
              <a:rPr lang="en-GB" sz="1400"/>
              <a:t> de la base OLAP (dictionnaire, schéma relationnel)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800"/>
              <a:t>Inconvénients 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500" b="1"/>
              <a:t>Risque de bloquer des données valides si elles arrivent en retard (ex: problème technique en magasin).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GB" sz="1500" b="1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500" b="1"/>
              <a:t>Effort technique initial pour mettre en place les verrous, contrôles et journaux.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GB" sz="1500" b="1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500" b="1"/>
              <a:t>Nécessité de définir une règle métier claire sur le délai de verrouillage (ex: verrouiller après 24h, 48h ?).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GB" sz="1500" b="1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500" b="1"/>
              <a:t>Solution partielle si l’ETL reste non contrôlé ou que des modifications manuelles persistent</a:t>
            </a:r>
            <a:r>
              <a:rPr lang="en-GB" sz="1600"/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1F20-1216-8008-E73B-F19BD139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A588-69AA-40FF-4CC3-3008E834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/>
              <a:t>Implemetation des mesures correctifs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80D55-134F-CD7E-DF44-1CE64C331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50" y="2643124"/>
            <a:ext cx="5896990" cy="15173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100"/>
              <a:t>Creation de trigger pour empêchee les ventes futures erronées.</a:t>
            </a:r>
          </a:p>
          <a:p>
            <a:pPr>
              <a:lnSpc>
                <a:spcPct val="150000"/>
              </a:lnSpc>
            </a:pPr>
            <a:r>
              <a:rPr lang="en-GB" sz="1100"/>
              <a:t>Contrainte d’unicité sur Ticket_id dans Fact_vente.</a:t>
            </a:r>
          </a:p>
          <a:p>
            <a:pPr>
              <a:lnSpc>
                <a:spcPct val="150000"/>
              </a:lnSpc>
            </a:pPr>
            <a:r>
              <a:rPr lang="en-GB" sz="1100"/>
              <a:t>S’assurer les clés étrangères bien mises en place.</a:t>
            </a:r>
          </a:p>
          <a:p>
            <a:pPr>
              <a:lnSpc>
                <a:spcPct val="150000"/>
              </a:lnSpc>
            </a:pPr>
            <a:r>
              <a:rPr lang="en-GB" sz="1050"/>
              <a:t>Creation procédure stockée permet d’insérer une nouvelle vente dans la base, tout en gardant une trace de cette insertiondans une table d’audit.</a:t>
            </a:r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2012512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D92C9D55-138A-EA61-3D7A-AC0B8655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>
            <a:extLst>
              <a:ext uri="{FF2B5EF4-FFF2-40B4-BE49-F238E27FC236}">
                <a16:creationId xmlns:a16="http://schemas.microsoft.com/office/drawing/2014/main" id="{B1F7C688-1FE6-C6B2-A578-0623FDB4F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400"/>
              <a:t>Un trigger (déclencheur) qui s’exécute automatiquement avant chaque insertion dans la table </a:t>
            </a:r>
            <a:r>
              <a:rPr lang="en-GB" sz="1100"/>
              <a:t>Fact_vente </a:t>
            </a:r>
            <a:r>
              <a:rPr lang="en-GB" sz="1400"/>
              <a:t>en verifiant les dates</a:t>
            </a:r>
            <a:endParaRPr sz="14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0369A7-E999-AD56-7067-E47D7226B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00" y="1213707"/>
            <a:ext cx="6618788" cy="30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46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5A4EE30-F18F-BEFE-FF3D-3B29D802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>
            <a:extLst>
              <a:ext uri="{FF2B5EF4-FFF2-40B4-BE49-F238E27FC236}">
                <a16:creationId xmlns:a16="http://schemas.microsoft.com/office/drawing/2014/main" id="{9531EC9A-0DAC-CA2A-245D-37E906D03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1400"/>
              <a:t>Contrainte d’unicité sur Ticket_id dans Fact_vente.</a:t>
            </a:r>
          </a:p>
        </p:txBody>
      </p:sp>
      <p:pic>
        <p:nvPicPr>
          <p:cNvPr id="3" name="Picture 2" descr="A close-up of a ticket&#10;&#10;AI-generated content may be incorrect.">
            <a:extLst>
              <a:ext uri="{FF2B5EF4-FFF2-40B4-BE49-F238E27FC236}">
                <a16:creationId xmlns:a16="http://schemas.microsoft.com/office/drawing/2014/main" id="{C6367383-CF85-7992-06B4-4F0FEF387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485554"/>
            <a:ext cx="7772400" cy="167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9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7C54999-DF09-F683-F333-99CE7DC2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>
            <a:extLst>
              <a:ext uri="{FF2B5EF4-FFF2-40B4-BE49-F238E27FC236}">
                <a16:creationId xmlns:a16="http://schemas.microsoft.com/office/drawing/2014/main" id="{6EF5B570-237D-6145-B5AB-7AB3E91DA4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1400"/>
              <a:t>Clés étrangères bien mises en place</a:t>
            </a:r>
          </a:p>
        </p:txBody>
      </p:sp>
      <p:pic>
        <p:nvPicPr>
          <p:cNvPr id="6" name="Picture 5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23ABBEAE-EDE3-EF9F-E667-672AB6652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86951"/>
            <a:ext cx="7772400" cy="196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37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A573324-E94E-DD77-06DA-758A82AF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>
            <a:extLst>
              <a:ext uri="{FF2B5EF4-FFF2-40B4-BE49-F238E27FC236}">
                <a16:creationId xmlns:a16="http://schemas.microsoft.com/office/drawing/2014/main" id="{DC025328-93BF-E60C-15C1-737075323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265734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1400"/>
              <a:t>Procedure stockèe + une table de audit_logs</a:t>
            </a: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F266B68-791B-675B-D9B0-D2F934D8E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656" y="850800"/>
            <a:ext cx="6180844" cy="38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5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>
            <a:spLocks noGrp="1"/>
          </p:cNvSpPr>
          <p:nvPr>
            <p:ph type="title"/>
          </p:nvPr>
        </p:nvSpPr>
        <p:spPr>
          <a:xfrm>
            <a:off x="311700" y="1388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896</Words>
  <Application>Microsoft Macintosh PowerPoint</Application>
  <PresentationFormat>On-screen Show (16:9)</PresentationFormat>
  <Paragraphs>114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Lato</vt:lpstr>
      <vt:lpstr>Montserrat</vt:lpstr>
      <vt:lpstr>Inter</vt:lpstr>
      <vt:lpstr>Wingdings</vt:lpstr>
      <vt:lpstr>Arial</vt:lpstr>
      <vt:lpstr>Focus</vt:lpstr>
      <vt:lpstr>AUDIT :  Erreur sur le Cube OLAP </vt:lpstr>
      <vt:lpstr>Présentation de la mission</vt:lpstr>
      <vt:lpstr>Analyse de la base de données Architecture de l’entreprise</vt:lpstr>
      <vt:lpstr>Analyse de la base de données Dictionnaire des données du fichier OLAP</vt:lpstr>
      <vt:lpstr>Analyse de la base de données schéma relationnel</vt:lpstr>
      <vt:lpstr>Présentation du prototype de BDD Explication de la base de données</vt:lpstr>
      <vt:lpstr>Résultat des requêtes SQL Le chiffre d’affaires total pour le 14 Août</vt:lpstr>
      <vt:lpstr>Résultat des requêtes SQL Le chiffre d’affaires par client pour le top 10 des clients</vt:lpstr>
      <vt:lpstr>Résultat des requêtes SQL Le chiffre d’affaires encaissé par employé </vt:lpstr>
      <vt:lpstr>Analyse des logs</vt:lpstr>
      <vt:lpstr>Analyese des logs: Numbre de logs</vt:lpstr>
      <vt:lpstr>Analyese des logs: Nombre de logs par action: </vt:lpstr>
      <vt:lpstr>Analyese des logs: Insertion décalèe des ventes</vt:lpstr>
      <vt:lpstr>Resume: Analyse des logs</vt:lpstr>
      <vt:lpstr>Compréhension des problèmes sur la base des logs</vt:lpstr>
      <vt:lpstr>Recommandations pour l’entreprise</vt:lpstr>
      <vt:lpstr>Recommandations pour l’entreprise Avantages et inconvénients de la solution</vt:lpstr>
      <vt:lpstr>Implemetation des mesures correctifs</vt:lpstr>
      <vt:lpstr>Un trigger (déclencheur) qui s’exécute automatiquement avant chaque insertion dans la table Fact_vente en verifiant les dates</vt:lpstr>
      <vt:lpstr>Contrainte d’unicité sur Ticket_id dans Fact_vente.</vt:lpstr>
      <vt:lpstr>Clés étrangères bien mises en place</vt:lpstr>
      <vt:lpstr>Procedure stockèe + une table de audit_logs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ABDELRASOUL Mahmoud</cp:lastModifiedBy>
  <cp:revision>4</cp:revision>
  <dcterms:modified xsi:type="dcterms:W3CDTF">2025-07-15T13:40:08Z</dcterms:modified>
</cp:coreProperties>
</file>